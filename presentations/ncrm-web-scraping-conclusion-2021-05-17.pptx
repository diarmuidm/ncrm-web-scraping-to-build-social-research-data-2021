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65" r:id="rId5"/>
    <p:sldId id="263" r:id="rId6"/>
    <p:sldId id="269" r:id="rId7"/>
    <p:sldId id="270" r:id="rId8"/>
    <p:sldId id="271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4"/>
    <p:restoredTop sz="86395"/>
  </p:normalViewPr>
  <p:slideViewPr>
    <p:cSldViewPr snapToGrid="0" snapToObjects="1">
      <p:cViewPr varScale="1">
        <p:scale>
          <a:sx n="58" d="100"/>
          <a:sy n="58" d="100"/>
        </p:scale>
        <p:origin x="120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464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DD8AA-EFCD-4049-B290-2AD84D79EB78}" type="datetimeFigureOut">
              <a:rPr lang="en-GB" smtClean="0"/>
              <a:t>16/05/2021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230F0-8B93-9541-A11C-5C07D4A25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97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That’s quite a day, so well done on getting through it. If your appetite has been whetted, then there are a number of extensions or intermediate technical skills that will improve your web scraping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230F0-8B93-9541-A11C-5C07D4A256A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821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[Demonstrate 1, 4 and 5]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230F0-8B93-9541-A11C-5C07D4A256A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646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230F0-8B93-9541-A11C-5C07D4A256A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565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[Describe APIs and mention the UKDS materials. If it’s an area you are interested in then please tell NCRM!]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230F0-8B93-9541-A11C-5C07D4A256A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469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sincere thanks for your time, hopefully you’ve learned something useful for your work. NCRM will send an evaluation survey tomorrow, please provide feedback – especially critical comments for improving this course.</a:t>
            </a:r>
          </a:p>
          <a:p>
            <a:endParaRPr lang="en-US" dirty="0"/>
          </a:p>
          <a:p>
            <a:r>
              <a:rPr lang="en-US" dirty="0"/>
              <a:t>I’m happy to be contacted if you have any questions about the course or your own idea [share email].</a:t>
            </a:r>
          </a:p>
          <a:p>
            <a:endParaRPr lang="en-US" dirty="0"/>
          </a:p>
          <a:p>
            <a:r>
              <a:rPr lang="en-US" dirty="0"/>
              <a:t>The course materials are freely available [share link].</a:t>
            </a:r>
          </a:p>
          <a:p>
            <a:endParaRPr lang="en-US" dirty="0"/>
          </a:p>
          <a:p>
            <a:r>
              <a:rPr lang="en-US" dirty="0"/>
              <a:t>I’ll stay on a few minutes if </a:t>
            </a:r>
            <a:r>
              <a:rPr lang="en-US"/>
              <a:t>someone wants to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230F0-8B93-9541-A11C-5C07D4A256A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81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628E6-B12D-5448-844A-4D0654447B37}"/>
              </a:ext>
            </a:extLst>
          </p:cNvPr>
          <p:cNvSpPr/>
          <p:nvPr userDrawn="1"/>
        </p:nvSpPr>
        <p:spPr>
          <a:xfrm>
            <a:off x="0" y="1267297"/>
            <a:ext cx="12192000" cy="4838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3748C-7BF2-404A-AC72-C23BCD2F8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254" y="1564640"/>
            <a:ext cx="11465492" cy="2294172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1F9B3-6AC9-AF47-819F-942053CCB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54" y="3950888"/>
            <a:ext cx="11465492" cy="18606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84B1B-FB67-3945-8684-91BF0AE0DE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254" y="388306"/>
            <a:ext cx="5172814" cy="478159"/>
          </a:xfrm>
          <a:prstGeom prst="rect">
            <a:avLst/>
          </a:prstGeom>
        </p:spPr>
      </p:pic>
      <p:pic>
        <p:nvPicPr>
          <p:cNvPr id="7" name="Picture 6" descr="R:\CENTRES\NCRM\Publicity\Logos\University of Southampton\university logo copy.jpg">
            <a:extLst>
              <a:ext uri="{FF2B5EF4-FFF2-40B4-BE49-F238E27FC236}">
                <a16:creationId xmlns:a16="http://schemas.microsoft.com/office/drawing/2014/main" id="{D6D25CB6-1CAE-8B46-9C96-79D98998C5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960" y="6297320"/>
            <a:ext cx="1944216" cy="42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R:\CENTRES\NCRM\Publicity\Logos\Other\TAB_col_white_background.png">
            <a:extLst>
              <a:ext uri="{FF2B5EF4-FFF2-40B4-BE49-F238E27FC236}">
                <a16:creationId xmlns:a16="http://schemas.microsoft.com/office/drawing/2014/main" id="{81AE495C-B492-4C4D-9AF6-92DDCC3365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477" y="6249432"/>
            <a:ext cx="1181829" cy="5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:\CENTRES\NCRM\Publicity\Logos\Other\298px-University_of_Edinburgh_logo.svg.png">
            <a:extLst>
              <a:ext uri="{FF2B5EF4-FFF2-40B4-BE49-F238E27FC236}">
                <a16:creationId xmlns:a16="http://schemas.microsoft.com/office/drawing/2014/main" id="{E6688575-48E5-7B4A-B014-D341528E13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607" y="6224270"/>
            <a:ext cx="504056" cy="50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F18DE1A-82E0-6541-9A23-838A0F31412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74637" y="6252596"/>
            <a:ext cx="1853022" cy="46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6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628E6-B12D-5448-844A-4D0654447B37}"/>
              </a:ext>
            </a:extLst>
          </p:cNvPr>
          <p:cNvSpPr/>
          <p:nvPr userDrawn="1"/>
        </p:nvSpPr>
        <p:spPr>
          <a:xfrm>
            <a:off x="0" y="1267297"/>
            <a:ext cx="12192000" cy="48388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3748C-7BF2-404A-AC72-C23BCD2F8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254" y="1564640"/>
            <a:ext cx="11465492" cy="2294172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1F9B3-6AC9-AF47-819F-942053CCB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54" y="3950888"/>
            <a:ext cx="11465492" cy="18606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84B1B-FB67-3945-8684-91BF0AE0DE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254" y="388306"/>
            <a:ext cx="5172814" cy="478159"/>
          </a:xfrm>
          <a:prstGeom prst="rect">
            <a:avLst/>
          </a:prstGeom>
        </p:spPr>
      </p:pic>
      <p:pic>
        <p:nvPicPr>
          <p:cNvPr id="7" name="Picture 6" descr="R:\CENTRES\NCRM\Publicity\Logos\University of Southampton\university logo copy.jpg">
            <a:extLst>
              <a:ext uri="{FF2B5EF4-FFF2-40B4-BE49-F238E27FC236}">
                <a16:creationId xmlns:a16="http://schemas.microsoft.com/office/drawing/2014/main" id="{D6D25CB6-1CAE-8B46-9C96-79D98998C5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960" y="6297320"/>
            <a:ext cx="1944216" cy="42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R:\CENTRES\NCRM\Publicity\Logos\Other\TAB_col_white_background.png">
            <a:extLst>
              <a:ext uri="{FF2B5EF4-FFF2-40B4-BE49-F238E27FC236}">
                <a16:creationId xmlns:a16="http://schemas.microsoft.com/office/drawing/2014/main" id="{81AE495C-B492-4C4D-9AF6-92DDCC3365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477" y="6249432"/>
            <a:ext cx="1181829" cy="5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:\CENTRES\NCRM\Publicity\Logos\Other\298px-University_of_Edinburgh_logo.svg.png">
            <a:extLst>
              <a:ext uri="{FF2B5EF4-FFF2-40B4-BE49-F238E27FC236}">
                <a16:creationId xmlns:a16="http://schemas.microsoft.com/office/drawing/2014/main" id="{E6688575-48E5-7B4A-B014-D341528E13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607" y="6224270"/>
            <a:ext cx="504056" cy="50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F18DE1A-82E0-6541-9A23-838A0F31412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74637" y="6252596"/>
            <a:ext cx="1853022" cy="46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3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628E6-B12D-5448-844A-4D0654447B37}"/>
              </a:ext>
            </a:extLst>
          </p:cNvPr>
          <p:cNvSpPr/>
          <p:nvPr userDrawn="1"/>
        </p:nvSpPr>
        <p:spPr>
          <a:xfrm>
            <a:off x="0" y="1267297"/>
            <a:ext cx="12192000" cy="48388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3748C-7BF2-404A-AC72-C23BCD2F8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254" y="1564640"/>
            <a:ext cx="11465492" cy="2294172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1F9B3-6AC9-AF47-819F-942053CCB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54" y="3950888"/>
            <a:ext cx="11465492" cy="18606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84B1B-FB67-3945-8684-91BF0AE0DE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254" y="388306"/>
            <a:ext cx="5172814" cy="478159"/>
          </a:xfrm>
          <a:prstGeom prst="rect">
            <a:avLst/>
          </a:prstGeom>
        </p:spPr>
      </p:pic>
      <p:pic>
        <p:nvPicPr>
          <p:cNvPr id="7" name="Picture 6" descr="R:\CENTRES\NCRM\Publicity\Logos\University of Southampton\university logo copy.jpg">
            <a:extLst>
              <a:ext uri="{FF2B5EF4-FFF2-40B4-BE49-F238E27FC236}">
                <a16:creationId xmlns:a16="http://schemas.microsoft.com/office/drawing/2014/main" id="{D6D25CB6-1CAE-8B46-9C96-79D98998C5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960" y="6297320"/>
            <a:ext cx="1944216" cy="42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R:\CENTRES\NCRM\Publicity\Logos\Other\TAB_col_white_background.png">
            <a:extLst>
              <a:ext uri="{FF2B5EF4-FFF2-40B4-BE49-F238E27FC236}">
                <a16:creationId xmlns:a16="http://schemas.microsoft.com/office/drawing/2014/main" id="{81AE495C-B492-4C4D-9AF6-92DDCC3365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477" y="6249432"/>
            <a:ext cx="1181829" cy="5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:\CENTRES\NCRM\Publicity\Logos\Other\298px-University_of_Edinburgh_logo.svg.png">
            <a:extLst>
              <a:ext uri="{FF2B5EF4-FFF2-40B4-BE49-F238E27FC236}">
                <a16:creationId xmlns:a16="http://schemas.microsoft.com/office/drawing/2014/main" id="{E6688575-48E5-7B4A-B014-D341528E13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607" y="6224270"/>
            <a:ext cx="504056" cy="50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F18DE1A-82E0-6541-9A23-838A0F31412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74637" y="6252596"/>
            <a:ext cx="1853022" cy="46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9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628E6-B12D-5448-844A-4D0654447B37}"/>
              </a:ext>
            </a:extLst>
          </p:cNvPr>
          <p:cNvSpPr/>
          <p:nvPr userDrawn="1"/>
        </p:nvSpPr>
        <p:spPr>
          <a:xfrm>
            <a:off x="0" y="1267297"/>
            <a:ext cx="12192000" cy="48388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3748C-7BF2-404A-AC72-C23BCD2F8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254" y="1564640"/>
            <a:ext cx="11465492" cy="2294172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1F9B3-6AC9-AF47-819F-942053CCB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54" y="3950888"/>
            <a:ext cx="11465492" cy="18606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84B1B-FB67-3945-8684-91BF0AE0DE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254" y="388306"/>
            <a:ext cx="5172814" cy="478159"/>
          </a:xfrm>
          <a:prstGeom prst="rect">
            <a:avLst/>
          </a:prstGeom>
        </p:spPr>
      </p:pic>
      <p:pic>
        <p:nvPicPr>
          <p:cNvPr id="7" name="Picture 6" descr="R:\CENTRES\NCRM\Publicity\Logos\University of Southampton\university logo copy.jpg">
            <a:extLst>
              <a:ext uri="{FF2B5EF4-FFF2-40B4-BE49-F238E27FC236}">
                <a16:creationId xmlns:a16="http://schemas.microsoft.com/office/drawing/2014/main" id="{D6D25CB6-1CAE-8B46-9C96-79D98998C5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960" y="6297320"/>
            <a:ext cx="1944216" cy="42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R:\CENTRES\NCRM\Publicity\Logos\Other\TAB_col_white_background.png">
            <a:extLst>
              <a:ext uri="{FF2B5EF4-FFF2-40B4-BE49-F238E27FC236}">
                <a16:creationId xmlns:a16="http://schemas.microsoft.com/office/drawing/2014/main" id="{81AE495C-B492-4C4D-9AF6-92DDCC3365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477" y="6249432"/>
            <a:ext cx="1181829" cy="5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:\CENTRES\NCRM\Publicity\Logos\Other\298px-University_of_Edinburgh_logo.svg.png">
            <a:extLst>
              <a:ext uri="{FF2B5EF4-FFF2-40B4-BE49-F238E27FC236}">
                <a16:creationId xmlns:a16="http://schemas.microsoft.com/office/drawing/2014/main" id="{E6688575-48E5-7B4A-B014-D341528E13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607" y="6224270"/>
            <a:ext cx="504056" cy="50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F18DE1A-82E0-6541-9A23-838A0F31412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74637" y="6252596"/>
            <a:ext cx="1853022" cy="46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8D7D-7D49-6149-85A9-790F6302B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11452792" cy="332023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C164E-B923-E240-9549-3665C48CF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254" y="4314986"/>
            <a:ext cx="11452792" cy="18927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484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70E3-D185-C543-A176-FE39E082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11465492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B8F3-4A2C-DA4D-A16E-D94E78743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635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97A0-490A-784A-A385-F0CA6C76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11465492" cy="97299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3A61-4AAF-E649-B9B9-0ED494C8F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254" y="2178754"/>
            <a:ext cx="5618968" cy="404932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7FADD-BF12-F941-A7FA-DA0D0D943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252" y="2178754"/>
            <a:ext cx="5631494" cy="40493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200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B68ED-93B3-CA48-BD14-08002B653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78" y="2178754"/>
            <a:ext cx="5612445" cy="6862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B3630-FA56-C944-829B-CDE580034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078" y="3002666"/>
            <a:ext cx="5612445" cy="32254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61A93-23B8-BE4F-B7AB-D0733A8FA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7252" y="2178754"/>
            <a:ext cx="5634670" cy="6862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FF97EC-EC9C-4542-AD36-17998146D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7252" y="3002666"/>
            <a:ext cx="5634670" cy="32254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B4DD1CF-364C-6F46-BCE5-2169AE16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11465492" cy="97299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094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B45BDD3-1A9E-F648-95FA-6F2F7556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11465492" cy="97299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2682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66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75CF-FE81-4D4E-AE17-2E927968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4408771" cy="104814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C69E-D9E2-4945-8D10-0A69C219A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67768"/>
            <a:ext cx="6645558" cy="518919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FAA12-1017-D24F-BA1C-92103FDAE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254" y="2146178"/>
            <a:ext cx="4408771" cy="401078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299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756D8-B8E7-9243-A2BE-A2440AAEB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67770"/>
            <a:ext cx="6645558" cy="518919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617FF34-4298-D249-9A85-19BC7674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4408771" cy="104814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F544FF3-EE4A-8745-81B6-51F48CC57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254" y="2146178"/>
            <a:ext cx="4408771" cy="401078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975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628E6-B12D-5448-844A-4D0654447B37}"/>
              </a:ext>
            </a:extLst>
          </p:cNvPr>
          <p:cNvSpPr/>
          <p:nvPr userDrawn="1"/>
        </p:nvSpPr>
        <p:spPr>
          <a:xfrm>
            <a:off x="0" y="1267297"/>
            <a:ext cx="12192000" cy="48388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1F9B3-6AC9-AF47-819F-942053CCBC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3254" y="3950888"/>
            <a:ext cx="11465492" cy="18606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www.ncrm.ac.uk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84B1B-FB67-3945-8684-91BF0AE0DE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254" y="388306"/>
            <a:ext cx="5172814" cy="478159"/>
          </a:xfrm>
          <a:prstGeom prst="rect">
            <a:avLst/>
          </a:prstGeom>
        </p:spPr>
      </p:pic>
      <p:pic>
        <p:nvPicPr>
          <p:cNvPr id="7" name="Picture 6" descr="R:\CENTRES\NCRM\Publicity\Logos\University of Southampton\university logo copy.jpg">
            <a:extLst>
              <a:ext uri="{FF2B5EF4-FFF2-40B4-BE49-F238E27FC236}">
                <a16:creationId xmlns:a16="http://schemas.microsoft.com/office/drawing/2014/main" id="{D6D25CB6-1CAE-8B46-9C96-79D98998C5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960" y="6297320"/>
            <a:ext cx="1944216" cy="42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R:\CENTRES\NCRM\Publicity\Logos\Other\TAB_col_white_background.png">
            <a:extLst>
              <a:ext uri="{FF2B5EF4-FFF2-40B4-BE49-F238E27FC236}">
                <a16:creationId xmlns:a16="http://schemas.microsoft.com/office/drawing/2014/main" id="{81AE495C-B492-4C4D-9AF6-92DDCC3365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477" y="6249432"/>
            <a:ext cx="1181829" cy="5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:\CENTRES\NCRM\Publicity\Logos\Other\298px-University_of_Edinburgh_logo.svg.png">
            <a:extLst>
              <a:ext uri="{FF2B5EF4-FFF2-40B4-BE49-F238E27FC236}">
                <a16:creationId xmlns:a16="http://schemas.microsoft.com/office/drawing/2014/main" id="{E6688575-48E5-7B4A-B014-D341528E13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607" y="6224270"/>
            <a:ext cx="504056" cy="50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F18DE1A-82E0-6541-9A23-838A0F31412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74637" y="6252596"/>
            <a:ext cx="1853022" cy="46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9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CABCB-53D2-2848-96D0-2209714C4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254" y="2506275"/>
            <a:ext cx="11465492" cy="371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AC2D8B6F-598E-8249-89D1-C6BBA7F3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967769"/>
            <a:ext cx="114654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F70C31-5F59-4D46-8052-4E0D39FFB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6469694"/>
            <a:ext cx="12192000" cy="38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4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60" r:id="rId4"/>
    <p:sldLayoutId id="2147483651" r:id="rId5"/>
    <p:sldLayoutId id="214748365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KDataServiceOpen/web-scrap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0703-F9CE-3F4E-BE12-6F35386AA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Concluding remarks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76BF5-7496-0D4E-9A68-D9C03E9A07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Web Scraping to build social research data</a:t>
            </a:r>
          </a:p>
        </p:txBody>
      </p:sp>
    </p:spTree>
    <p:extLst>
      <p:ext uri="{BB962C8B-B14F-4D97-AF65-F5344CB8AC3E}">
        <p14:creationId xmlns:p14="http://schemas.microsoft.com/office/powerpoint/2010/main" val="577628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184F-1E44-3D45-B2A7-E8B59592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593196"/>
            <a:ext cx="4408771" cy="1048147"/>
          </a:xfrm>
        </p:spPr>
        <p:txBody>
          <a:bodyPr>
            <a:normAutofit/>
          </a:bodyPr>
          <a:lstStyle/>
          <a:p>
            <a:r>
              <a:rPr lang="en-GB" sz="36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F61C-156A-6941-BEED-CEB7F98CD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4" y="2126255"/>
            <a:ext cx="11465492" cy="4030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The value, logic and practical implementation of web scraping.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structure of web pages and how to navigate them.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Locating, extracting and saving data stored on web pages.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Ethical and legal considerations.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Coding using the Python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137828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184F-1E44-3D45-B2A7-E8B59592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593196"/>
            <a:ext cx="4408771" cy="1048147"/>
          </a:xfrm>
        </p:spPr>
        <p:txBody>
          <a:bodyPr>
            <a:normAutofit/>
          </a:bodyPr>
          <a:lstStyle/>
          <a:p>
            <a:r>
              <a:rPr lang="en-GB" sz="3600" dirty="0"/>
              <a:t>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F61C-156A-6941-BEED-CEB7F98CD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4" y="2126255"/>
            <a:ext cx="11465492" cy="4030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Dealing with dynamic websites.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Handling exceptions in your code.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Dealing with vigilant web administrators.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Scheduling your programming scripts.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Interacting with APIs.</a:t>
            </a:r>
          </a:p>
        </p:txBody>
      </p:sp>
    </p:spTree>
    <p:extLst>
      <p:ext uri="{BB962C8B-B14F-4D97-AF65-F5344CB8AC3E}">
        <p14:creationId xmlns:p14="http://schemas.microsoft.com/office/powerpoint/2010/main" val="68333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184F-1E44-3D45-B2A7-E8B59592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593196"/>
            <a:ext cx="4408771" cy="1048147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Questions and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F61C-156A-6941-BEED-CEB7F98CD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4" y="2126255"/>
            <a:ext cx="11465492" cy="4030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Anyone like to demonstrate or talk through their idea?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Any final, burning questions?</a:t>
            </a:r>
          </a:p>
        </p:txBody>
      </p:sp>
    </p:spTree>
    <p:extLst>
      <p:ext uri="{BB962C8B-B14F-4D97-AF65-F5344CB8AC3E}">
        <p14:creationId xmlns:p14="http://schemas.microsoft.com/office/powerpoint/2010/main" val="26370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184F-1E44-3D45-B2A7-E8B59592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593196"/>
            <a:ext cx="4408771" cy="1048147"/>
          </a:xfrm>
        </p:spPr>
        <p:txBody>
          <a:bodyPr>
            <a:normAutofit/>
          </a:bodyPr>
          <a:lstStyle/>
          <a:p>
            <a:r>
              <a:rPr lang="en-GB" sz="3600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F61C-156A-6941-BEED-CEB7F98CD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4" y="2126255"/>
            <a:ext cx="11465492" cy="4030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APIs are an increasingly prominent source of social data – rely on many of the same skills as web scraping but with increased emphasis on data structure:</a:t>
            </a:r>
          </a:p>
          <a:p>
            <a:r>
              <a:rPr lang="en-GB" sz="2400" dirty="0">
                <a:hlinkClick r:id="rId3"/>
              </a:rPr>
              <a:t>https://github.com/UKDataServiceOpen/web-scraping</a:t>
            </a: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/>
              <a:t>Become a more efficient coder (up to a point).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Learn by doing.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0629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2DE1CC-6C8C-4027-9712-5F5758E9770C}"/>
              </a:ext>
            </a:extLst>
          </p:cNvPr>
          <p:cNvSpPr txBox="1"/>
          <p:nvPr/>
        </p:nvSpPr>
        <p:spPr>
          <a:xfrm>
            <a:off x="0" y="359797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920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CRM">
      <a:dk1>
        <a:srgbClr val="545860"/>
      </a:dk1>
      <a:lt1>
        <a:srgbClr val="FFFFFF"/>
      </a:lt1>
      <a:dk2>
        <a:srgbClr val="545860"/>
      </a:dk2>
      <a:lt2>
        <a:srgbClr val="E7E6E6"/>
      </a:lt2>
      <a:accent1>
        <a:srgbClr val="5BC3F5"/>
      </a:accent1>
      <a:accent2>
        <a:srgbClr val="3A5CB7"/>
      </a:accent2>
      <a:accent3>
        <a:srgbClr val="FFB653"/>
      </a:accent3>
      <a:accent4>
        <a:srgbClr val="E56B59"/>
      </a:accent4>
      <a:accent5>
        <a:srgbClr val="545860"/>
      </a:accent5>
      <a:accent6>
        <a:srgbClr val="E7E6E6"/>
      </a:accent6>
      <a:hlink>
        <a:srgbClr val="3A5CB7"/>
      </a:hlink>
      <a:folHlink>
        <a:srgbClr val="E56B5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A600451-2323-8640-8B92-977B474FAEB6}" vid="{1B9421E0-F233-9642-B89D-3A95E4A52F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stribution_Groups xmlns="0206d022-eeab-4b8b-ae5a-4a13bf4dc33f" xsi:nil="true"/>
    <Math_Settings xmlns="0206d022-eeab-4b8b-ae5a-4a13bf4dc33f" xsi:nil="true"/>
    <AppVersion xmlns="0206d022-eeab-4b8b-ae5a-4a13bf4dc33f" xsi:nil="true"/>
    <LMS_Mappings xmlns="0206d022-eeab-4b8b-ae5a-4a13bf4dc33f" xsi:nil="true"/>
    <IsNotebookLocked xmlns="0206d022-eeab-4b8b-ae5a-4a13bf4dc33f" xsi:nil="true"/>
    <Owner xmlns="0206d022-eeab-4b8b-ae5a-4a13bf4dc33f">
      <UserInfo>
        <DisplayName/>
        <AccountId xsi:nil="true"/>
        <AccountType/>
      </UserInfo>
    </Owner>
    <TeamsChannelId xmlns="0206d022-eeab-4b8b-ae5a-4a13bf4dc33f" xsi:nil="true"/>
    <Invited_Leaders xmlns="0206d022-eeab-4b8b-ae5a-4a13bf4dc33f" xsi:nil="true"/>
    <NotebookType xmlns="0206d022-eeab-4b8b-ae5a-4a13bf4dc33f" xsi:nil="true"/>
    <Leaders xmlns="0206d022-eeab-4b8b-ae5a-4a13bf4dc33f">
      <UserInfo>
        <DisplayName/>
        <AccountId xsi:nil="true"/>
        <AccountType/>
      </UserInfo>
    </Leaders>
    <Templates xmlns="0206d022-eeab-4b8b-ae5a-4a13bf4dc33f" xsi:nil="true"/>
    <Has_Leaders_Only_SectionGroup xmlns="0206d022-eeab-4b8b-ae5a-4a13bf4dc33f" xsi:nil="true"/>
    <Is_Collaboration_Space_Locked xmlns="0206d022-eeab-4b8b-ae5a-4a13bf4dc33f" xsi:nil="true"/>
    <CultureName xmlns="0206d022-eeab-4b8b-ae5a-4a13bf4dc33f" xsi:nil="true"/>
    <Member_Groups xmlns="0206d022-eeab-4b8b-ae5a-4a13bf4dc33f">
      <UserInfo>
        <DisplayName/>
        <AccountId xsi:nil="true"/>
        <AccountType/>
      </UserInfo>
    </Member_Groups>
    <Self_Registration_Enabled xmlns="0206d022-eeab-4b8b-ae5a-4a13bf4dc33f" xsi:nil="true"/>
    <Invited_Members xmlns="0206d022-eeab-4b8b-ae5a-4a13bf4dc33f" xsi:nil="true"/>
    <FolderType xmlns="0206d022-eeab-4b8b-ae5a-4a13bf4dc33f" xsi:nil="true"/>
    <Members xmlns="0206d022-eeab-4b8b-ae5a-4a13bf4dc33f">
      <UserInfo>
        <DisplayName/>
        <AccountId xsi:nil="true"/>
        <AccountType/>
      </UserInfo>
    </Members>
    <DefaultSectionNames xmlns="0206d022-eeab-4b8b-ae5a-4a13bf4dc3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CC135235771047A464B48028F6F406" ma:contentTypeVersion="29" ma:contentTypeDescription="Create a new document." ma:contentTypeScope="" ma:versionID="765512e845be1853d4d3dcea1cc92feb">
  <xsd:schema xmlns:xsd="http://www.w3.org/2001/XMLSchema" xmlns:xs="http://www.w3.org/2001/XMLSchema" xmlns:p="http://schemas.microsoft.com/office/2006/metadata/properties" xmlns:ns2="0206d022-eeab-4b8b-ae5a-4a13bf4dc33f" targetNamespace="http://schemas.microsoft.com/office/2006/metadata/properties" ma:root="true" ma:fieldsID="4f76bafbba32ea9e75390816e6787031" ns2:_="">
    <xsd:import namespace="0206d022-eeab-4b8b-ae5a-4a13bf4dc33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06d022-eeab-4b8b-ae5a-4a13bf4dc33f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1" nillable="true" ma:displayName="Tags" ma:internalName="MediaServiceAutoTags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3E6885-5215-4B50-83FA-ECF1F8F82C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B171F4-9969-4EF5-B1CF-378341B05C2E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0206d022-eeab-4b8b-ae5a-4a13bf4dc3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AF42732-BA52-418F-894D-A42FDB8C61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06d022-eeab-4b8b-ae5a-4a13bf4dc3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</TotalTime>
  <Words>310</Words>
  <Application>Microsoft Office PowerPoint</Application>
  <PresentationFormat>Widescreen</PresentationFormat>
  <Paragraphs>50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Concluding remarks</vt:lpstr>
      <vt:lpstr>Summary</vt:lpstr>
      <vt:lpstr>Extensions</vt:lpstr>
      <vt:lpstr>Questions and ideas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Blunt</dc:creator>
  <cp:lastModifiedBy>Diarmuid McDonnell (Social Policy, Sociology and Criminology)</cp:lastModifiedBy>
  <cp:revision>38</cp:revision>
  <dcterms:created xsi:type="dcterms:W3CDTF">2020-05-12T14:44:09Z</dcterms:created>
  <dcterms:modified xsi:type="dcterms:W3CDTF">2021-05-16T18:51:05Z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0x01010033CC135235771047A464B48028F6F406</vt:lpwstr>
  </property>
</Properties>
</file>